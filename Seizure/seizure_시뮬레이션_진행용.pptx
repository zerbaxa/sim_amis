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68814" autoAdjust="0"/>
  </p:normalViewPr>
  <p:slideViewPr>
    <p:cSldViewPr snapToGrid="0">
      <p:cViewPr varScale="1">
        <p:scale>
          <a:sx n="69" d="100"/>
          <a:sy n="69" d="100"/>
        </p:scale>
        <p:origin x="9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kyo Chun" userId="b6c8bf80c6d93909" providerId="LiveId" clId="{5D5C06BF-19BD-4EA5-AC93-DE71C055D176}"/>
    <pc:docChg chg="modSld">
      <pc:chgData name="Minkyo Chun" userId="b6c8bf80c6d93909" providerId="LiveId" clId="{5D5C06BF-19BD-4EA5-AC93-DE71C055D176}" dt="2026-05-17T08:43:26.574" v="29"/>
      <pc:docMkLst>
        <pc:docMk/>
      </pc:docMkLst>
      <pc:sldChg chg="modSp mod">
        <pc:chgData name="Minkyo Chun" userId="b6c8bf80c6d93909" providerId="LiveId" clId="{5D5C06BF-19BD-4EA5-AC93-DE71C055D176}" dt="2026-05-17T08:43:26.574" v="29"/>
        <pc:sldMkLst>
          <pc:docMk/>
          <pc:sldMk cId="183713092" sldId="258"/>
        </pc:sldMkLst>
        <pc:spChg chg="mod">
          <ac:chgData name="Minkyo Chun" userId="b6c8bf80c6d93909" providerId="LiveId" clId="{5D5C06BF-19BD-4EA5-AC93-DE71C055D176}" dt="2026-05-17T08:43:26.574" v="29"/>
          <ac:spMkLst>
            <pc:docMk/>
            <pc:sldMk cId="183713092" sldId="258"/>
            <ac:spMk id="18" creationId="{03552734-9BCB-019A-855D-6559055D8D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74439-A2CB-47EA-88F8-2DAC88E21D4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63008-4F54-454A-A685-2A54A3300E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2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63008-4F54-454A-A685-2A54A3300E6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612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 lobar intracerebral hematoma involving the right temporal lobe. </a:t>
            </a:r>
          </a:p>
          <a:p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small volume of </a:t>
            </a:r>
            <a:r>
              <a:rPr lang="en-US" altLang="ko-KR" sz="1200" b="0" i="0" u="non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perihaematomal</a:t>
            </a:r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edema. A small amount of localized subarachnoid hemorrhage. Right cerebral convexity acute subdural hemorrhage. </a:t>
            </a:r>
          </a:p>
          <a:p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intraventricular hemorrhage.</a:t>
            </a:r>
          </a:p>
          <a:p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mass effect with effacement of the right cortical sulci and lateral ventricle, right </a:t>
            </a:r>
            <a:r>
              <a:rPr lang="en-US" altLang="ko-KR" sz="1200" b="0" i="0" u="non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uncal</a:t>
            </a:r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herniation and marked leftward midline shift. </a:t>
            </a:r>
          </a:p>
          <a:p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lateral ventricle obstructive hydrocephalus.</a:t>
            </a:r>
          </a:p>
          <a:p>
            <a:r>
              <a:rPr lang="en-US" altLang="ko-KR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Areas of calcification within the hematoma are in keeping with an arteriovenous malformation.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63008-4F54-454A-A685-2A54A3300E6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023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936FD-3FA3-72AA-2B2D-2757F9F67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C7D667-3611-A5BF-AA4A-D9E32DED6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571684-63A6-A727-D69D-55742F9B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2D713-2660-DA96-8137-A0BA912F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C41E20-5875-E686-3DE1-33E7B0BE5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9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06973-1BF6-0392-5764-4619D38A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577CD0-C3C6-04E9-4EAF-5F455A492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483829-0E8D-4D0A-A102-18C01B98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59F2EB-8CB7-A150-E24D-077294ED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0B80C-05F2-0F88-529C-F836F057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36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7879A-93C6-43C1-C588-9A9C04B6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935AD6-6052-EC7F-0231-5C005CEB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951E87-C18B-D50D-4A18-42CED4C1B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9F5D5-7F03-19B1-BE20-98B2D897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3AF6AE-D2EB-3484-2DA3-F57DB966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11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2D553-CD41-3A87-6E9E-39109C8C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F1C32-07EE-BC5B-9971-A79DF7E58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EF87D0-CFB2-5761-82BA-C6F2E9A41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11E98D-F6DC-3A7F-0F79-7E577ED1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E4D098-BCDF-A739-DC49-74F53DB6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D37C6A-E1C9-832D-1A03-CFD2AFBA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50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8649B-823B-8B42-A841-96286165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9FF6D1-4ABD-7451-B536-4503D0227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62CEC8-B423-EE4E-1E83-2658DA6F8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8EBF36-49E7-2AC3-E7BF-4EFA04191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99EFBA-1ECD-FD81-3398-D9CDBA3D3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427805-F909-9644-EBD4-D5574484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676E1E-7698-08F0-97B4-2A5FB3A9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B6DE55-655F-397D-8CFC-29A3D376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77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CAE29-D738-25AF-26EE-2CFB76D4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A9BFF4-7F1C-1144-A394-C7455168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438144-06F7-28A2-B171-29EE9165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EBC368-03B1-739F-AB40-93E083B2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813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AA0790-2827-7F64-40D1-F153A432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35A0B-11C7-B844-82E8-55842BE9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62C458-71C2-F2A1-AB4F-C0F20D3F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97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CA2F2-59A6-FF22-E27E-F47BF672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810C8-DF93-E46E-FD5B-FA2146870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EAF97F-51F4-7C6F-5348-83BB1F866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FD681-BF7F-F6C3-6855-5E1440B1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CC61FA-7E2E-2AF6-7A71-1E64BEB4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F01FCF-6134-5D70-B790-AC5A54B0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3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022F3-BA18-F26D-9741-B9511EF0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0C11DF-76AC-8D5A-2BD2-A428B2288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0D8B9B-94A6-12FE-D956-A8B3E10C5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A58A39-F87A-770F-7A50-B64B7104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6296D0-D689-4A40-2D04-5DA526B6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0E40BE-C928-8B10-F8D8-BB8785EA7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462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F284C-9BB0-CDBA-A524-18498A7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E85134-6501-86E5-86B3-64CBB2947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DD428-D226-B5BD-492C-74C12942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BCD30-5E2C-612D-E545-924C2DDB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3AE0AB-D995-F162-913D-17F525FC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78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B29FD7-1F91-0565-0BF9-D7AC4C181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89A1DF-4923-A50D-3561-810131011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0947AC-8556-C0F7-4577-040847D29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E65B1-0768-6CCF-2E14-46BC8B4C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41027E-DBFF-F7B2-2CB7-BBCF0DEC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869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33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182910-989B-5322-77F1-C12C7DEF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E5696-B4EE-863A-3D8B-9FE46AD4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7A97B3-81B2-B4A9-DB97-78D0AC308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CB36F-0AAA-441E-9217-311E38C2312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36883D-DC0A-E693-92D4-923F4D72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D456D0-1E55-52E2-6E61-E14411C4D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A5324-F07D-4FFA-BF0B-DE2ED94B8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62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 err="1">
                <a:solidFill>
                  <a:srgbClr val="D6E8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진행용</a:t>
            </a:r>
            <a:r>
              <a:rPr lang="en-US" sz="2133" dirty="0">
                <a:solidFill>
                  <a:srgbClr val="D6E8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가이드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609600" y="1767840"/>
            <a:ext cx="1097280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소아 </a:t>
            </a:r>
            <a:r>
              <a:rPr lang="en-US" sz="4267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발작</a:t>
            </a:r>
            <a:r>
              <a:rPr lang="en-US" sz="4267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4267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3048000" y="3657600"/>
            <a:ext cx="6096000" cy="60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/>
          <p:nvPr/>
        </p:nvSpPr>
        <p:spPr>
          <a:xfrm>
            <a:off x="2560320" y="4754880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소아청소년과 전공의 (응급실·중환자실)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2560320" y="5242560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소요: </a:t>
            </a:r>
            <a:r>
              <a:rPr lang="en-US" sz="1733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r>
              <a:rPr lang="en-US" sz="173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20분 + </a:t>
            </a:r>
            <a:r>
              <a:rPr lang="en-US" sz="1733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r>
              <a:rPr lang="en-US" sz="173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73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</a:t>
            </a:r>
            <a:r>
              <a:rPr lang="en-US" sz="173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33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디브리핑</a:t>
            </a:r>
            <a:r>
              <a:rPr lang="en-US" sz="173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20분</a:t>
            </a:r>
            <a:endParaRPr lang="en-US" sz="17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5">
            <a:extLst>
              <a:ext uri="{FF2B5EF4-FFF2-40B4-BE49-F238E27FC236}">
                <a16:creationId xmlns:a16="http://schemas.microsoft.com/office/drawing/2014/main" id="{EF9D3755-C029-15F5-BE40-AC16A81FB983}"/>
              </a:ext>
            </a:extLst>
          </p:cNvPr>
          <p:cNvSpPr/>
          <p:nvPr/>
        </p:nvSpPr>
        <p:spPr>
          <a:xfrm>
            <a:off x="2811248" y="819558"/>
            <a:ext cx="5099121" cy="29821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EBD36360-E8A5-DAEA-4D76-B8B29D22D9D7}"/>
              </a:ext>
            </a:extLst>
          </p:cNvPr>
          <p:cNvSpPr/>
          <p:nvPr/>
        </p:nvSpPr>
        <p:spPr>
          <a:xfrm>
            <a:off x="2811248" y="819558"/>
            <a:ext cx="4918621" cy="298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도착 시 임상 양상 &amp; 내원 경위</a:t>
            </a:r>
            <a:endParaRPr lang="en-US" dirty="0"/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FE5D6166-6269-720B-21DB-62226A3CF91D}"/>
              </a:ext>
            </a:extLst>
          </p:cNvPr>
          <p:cNvSpPr/>
          <p:nvPr/>
        </p:nvSpPr>
        <p:spPr>
          <a:xfrm>
            <a:off x="2811248" y="1249326"/>
            <a:ext cx="6003143" cy="693821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91D8837D-8ECA-9110-BBF3-FF6FF6D5C324}"/>
              </a:ext>
            </a:extLst>
          </p:cNvPr>
          <p:cNvSpPr/>
          <p:nvPr/>
        </p:nvSpPr>
        <p:spPr>
          <a:xfrm>
            <a:off x="2902687" y="1291847"/>
            <a:ext cx="5911704" cy="761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i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"아이가 30분째 의식 없이 경련해요!"  — 보호자</a:t>
            </a:r>
            <a:endParaRPr lang="en-US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2ED3E6E5-2B94-E10D-C8B0-4A255547DC82}"/>
              </a:ext>
            </a:extLst>
          </p:cNvPr>
          <p:cNvSpPr/>
          <p:nvPr/>
        </p:nvSpPr>
        <p:spPr>
          <a:xfrm>
            <a:off x="2811248" y="2457661"/>
            <a:ext cx="4918621" cy="17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시 소견</a:t>
            </a:r>
            <a:endParaRPr lang="en-US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8D4FE86B-519A-5E78-29B5-B9570DB54F40}"/>
              </a:ext>
            </a:extLst>
          </p:cNvPr>
          <p:cNvSpPr/>
          <p:nvPr/>
        </p:nvSpPr>
        <p:spPr>
          <a:xfrm>
            <a:off x="2811248" y="2630313"/>
            <a:ext cx="6747422" cy="4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전신 강직간대성(GTC) 발작 진행 중 · 의식 소실 · 청색증 · 입가 거품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CA7AD6E4-86C9-CDE9-4239-588E74375E9D}"/>
              </a:ext>
            </a:extLst>
          </p:cNvPr>
          <p:cNvSpPr/>
          <p:nvPr/>
        </p:nvSpPr>
        <p:spPr>
          <a:xfrm>
            <a:off x="2811248" y="3342674"/>
            <a:ext cx="4918621" cy="17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현병력 (HPI)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03552734-9BCB-019A-855D-6559055D8DF8}"/>
              </a:ext>
            </a:extLst>
          </p:cNvPr>
          <p:cNvSpPr/>
          <p:nvPr/>
        </p:nvSpPr>
        <p:spPr>
          <a:xfrm>
            <a:off x="2811248" y="3649834"/>
            <a:ext cx="4918621" cy="86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2일 전부터 발열(Tmax 39.5℃) + 인후통·콧물
• 내원 1시간 전 갑자기 의식 잃으며 전신 발작 발생
• 119 이동 중 </a:t>
            </a:r>
            <a:r>
              <a:rPr lang="en-US" sz="16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발작</a:t>
            </a:r>
            <a:r>
              <a:rPr lang="en-US" sz="16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</a:t>
            </a:r>
            <a:r>
              <a:rPr lang="ko-KR" altLang="en-US" sz="16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 응급실로 내원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C1D5D925-8920-728A-ED01-1D8BA44D31C9}"/>
              </a:ext>
            </a:extLst>
          </p:cNvPr>
          <p:cNvSpPr/>
          <p:nvPr/>
        </p:nvSpPr>
        <p:spPr>
          <a:xfrm>
            <a:off x="2811248" y="4885579"/>
            <a:ext cx="4918621" cy="17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과거력 (PMHx)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55D22787-F209-1CB7-AFA0-30403F8BFC12}"/>
              </a:ext>
            </a:extLst>
          </p:cNvPr>
          <p:cNvSpPr/>
          <p:nvPr/>
        </p:nvSpPr>
        <p:spPr>
          <a:xfrm>
            <a:off x="2811248" y="5279065"/>
            <a:ext cx="4918621" cy="329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Febrile convulsion 2회 (2세, 3세, simple type) · 정상 발달 · 알레르기/복용약 (-)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1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C3F6E-65A6-57DD-B2E2-90645502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8DBB4-DDC5-9BD9-391C-AFE2385D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28" name="Picture 4" descr="Intracerebral hemorrhage secondary to arteriovenous malformation |  Radiology Case | Radiopaedia.org">
            <a:extLst>
              <a:ext uri="{FF2B5EF4-FFF2-40B4-BE49-F238E27FC236}">
                <a16:creationId xmlns:a16="http://schemas.microsoft.com/office/drawing/2014/main" id="{E4F473B9-AE7F-ACB5-CE15-5C983857D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99" y="365125"/>
            <a:ext cx="4760641" cy="633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3FFB928-24DC-CD06-0B2B-D43AD4E73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843" y="353549"/>
            <a:ext cx="4769605" cy="634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85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211</Words>
  <Application>Microsoft Office PowerPoint</Application>
  <PresentationFormat>와이드스크린</PresentationFormat>
  <Paragraphs>21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한지호</dc:creator>
  <cp:lastModifiedBy>Minkyo Chun</cp:lastModifiedBy>
  <cp:revision>2</cp:revision>
  <dcterms:created xsi:type="dcterms:W3CDTF">2026-05-17T06:29:10Z</dcterms:created>
  <dcterms:modified xsi:type="dcterms:W3CDTF">2026-05-17T08:43:41Z</dcterms:modified>
</cp:coreProperties>
</file>